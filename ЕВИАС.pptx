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315" r:id="rId5"/>
    <p:sldId id="266" r:id="rId6"/>
    <p:sldId id="271" r:id="rId7"/>
    <p:sldId id="309" r:id="rId8"/>
    <p:sldId id="314" r:id="rId9"/>
    <p:sldId id="313" r:id="rId10"/>
    <p:sldId id="317" r:id="rId11"/>
    <p:sldId id="318" r:id="rId12"/>
    <p:sldId id="321" r:id="rId13"/>
    <p:sldId id="325" r:id="rId14"/>
    <p:sldId id="322" r:id="rId15"/>
    <p:sldId id="326" r:id="rId16"/>
    <p:sldId id="330" r:id="rId17"/>
    <p:sldId id="332" r:id="rId18"/>
    <p:sldId id="327" r:id="rId19"/>
    <p:sldId id="295" r:id="rId2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74E483B6-BAAE-44E0-89CF-686CD552E945}" type="datetime1">
              <a:rPr lang="ru-RU" smtClean="0"/>
              <a:t>16.12.2025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7AF8A362-CAFC-4987-9A50-4757052839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E7ECDAD-CED6-452F-8CF5-C48C88C18BE4}" type="datetime1">
              <a:rPr lang="ru-RU" smtClean="0"/>
              <a:pPr/>
              <a:t>16.12.2025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54EEB602-95FC-483A-B12D-216A7AD7EA2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48BA-851B-E38B-C207-9E272C4A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BF5175-DC6F-A1C2-5BE4-C209332C8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11FE50D-6A6D-7BAB-85EA-7FC35C62B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E11D40-4E60-0A4F-453C-58F9D3F17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155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A629-2C74-5E88-A9EE-3207B05C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1D4ADA-39F4-0B7A-BD91-3F11C2D3B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33FA0E-05B4-3041-560F-23230B878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2D3B86-0C89-C845-2291-C1E5F3B84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4308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rtlCol="0" anchor="ctr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sz="4400" dirty="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rtlCol="0"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2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Нижний колонтитул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</p:txBody>
      </p:sp>
      <p:sp>
        <p:nvSpPr>
          <p:cNvPr id="19" name="Дата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20" name="Номер слайда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4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40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Рисунок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 lang="ru-RU"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2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rtlCol="0" anchor="b"/>
          <a:lstStyle>
            <a:lvl1pPr>
              <a:lnSpc>
                <a:spcPct val="100000"/>
              </a:lnSpc>
              <a:defRPr lang="ru-RU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ru-RU" sz="2000" b="0"/>
            </a:lvl1pPr>
          </a:lstStyle>
          <a:p>
            <a:pPr rtl="0"/>
            <a:r>
              <a:rPr lang="ru-RU" sz="2000" dirty="0">
                <a:solidFill>
                  <a:schemeClr val="tx2"/>
                </a:solidFill>
              </a:rPr>
              <a:t>Подзаголовок слайда</a:t>
            </a:r>
          </a:p>
        </p:txBody>
      </p:sp>
      <p:sp>
        <p:nvSpPr>
          <p:cNvPr id="40" name="Рисунок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49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имое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 rtlCol="0"/>
          <a:lstStyle>
            <a:lvl1pPr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ru-RU" dirty="0"/>
              <a:t>Название презентации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>
                <a:solidFill>
                  <a:schemeClr val="tx2"/>
                </a:solidFill>
              </a:rPr>
              <a:t>08.09.20ГГ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500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rtlCol="0" anchor="b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 dirty="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rtlCol="0" anchor="t"/>
          <a:lstStyle>
            <a:lvl1pPr marL="0" indent="0">
              <a:lnSpc>
                <a:spcPct val="125000"/>
              </a:lnSpc>
              <a:buNone/>
              <a:defRPr lang="ru-RU" sz="2400" b="0" kern="1200" spc="150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ru-RU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4258252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dirty="0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94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</p:spTree>
    <p:extLst>
      <p:ext uri="{BB962C8B-B14F-4D97-AF65-F5344CB8AC3E}">
        <p14:creationId xmlns:p14="http://schemas.microsoft.com/office/powerpoint/2010/main" val="318977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Нижний колонтитул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24" name="Дата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 rtlCol="0"/>
          <a:lstStyle>
            <a:lvl1pPr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>
                <a:solidFill>
                  <a:schemeClr val="tx2"/>
                </a:solidFill>
              </a:rPr>
              <a:t>08.09.20ГГ</a:t>
            </a:r>
            <a:endParaRPr lang="ru-RU" dirty="0"/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20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5075238" y="461735"/>
            <a:ext cx="6473842" cy="3867150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5" name="Дата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93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rtlCol="0"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Нижний колонтитул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10" name="Дата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 rtlCol="0"/>
          <a:lstStyle>
            <a:lvl1pPr>
              <a:defRPr lang="ru-RU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12" name="Номер слайда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77516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4" name="Заполнитель таблицы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630363" y="2757951"/>
            <a:ext cx="9918700" cy="3387579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Дата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</p:spTree>
    <p:extLst>
      <p:ext uri="{BB962C8B-B14F-4D97-AF65-F5344CB8AC3E}">
        <p14:creationId xmlns:p14="http://schemas.microsoft.com/office/powerpoint/2010/main" val="3684561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17" name="Нижний колонтитул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 rtlCol="0"/>
          <a:lstStyle>
            <a:lvl1pPr>
              <a:defRPr lang="ru-RU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Дата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20" name="Номер слайда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6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76671" y="6309360"/>
            <a:ext cx="454961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42918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lang="ru-RU"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29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2" r:id="rId2"/>
    <p:sldLayoutId id="2147483681" r:id="rId3"/>
    <p:sldLayoutId id="2147483664" r:id="rId4"/>
    <p:sldLayoutId id="2147483678" r:id="rId5"/>
    <p:sldLayoutId id="2147483661" r:id="rId6"/>
    <p:sldLayoutId id="2147483676" r:id="rId7"/>
    <p:sldLayoutId id="2147483677" r:id="rId8"/>
    <p:sldLayoutId id="2147483679" r:id="rId9"/>
    <p:sldLayoutId id="2147483685" r:id="rId10"/>
    <p:sldLayoutId id="2147483675" r:id="rId11"/>
    <p:sldLayoutId id="2147483666" r:id="rId12"/>
    <p:sldLayoutId id="2147483674" r:id="rId1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lang="ru-RU" sz="32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83464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8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66928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6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0392" indent="-283464" algn="l" defTabSz="914400" rtl="0" eaLnBrk="1" latinLnBrk="0" hangingPunct="1">
        <a:lnSpc>
          <a:spcPct val="10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133856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417320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fif"/><Relationship Id="rId4" Type="http://schemas.openxmlformats.org/officeDocument/2006/relationships/image" Target="../media/image11.jf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fif"/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fif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48" y="825687"/>
            <a:ext cx="10067827" cy="5201730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ЕВИАС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F99AE-68CB-DE97-F43E-94CA93A3A9CF}"/>
              </a:ext>
            </a:extLst>
          </p:cNvPr>
          <p:cNvSpPr txBox="1"/>
          <p:nvPr/>
        </p:nvSpPr>
        <p:spPr>
          <a:xfrm>
            <a:off x="1272619" y="4911365"/>
            <a:ext cx="3582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Насибов Руслан</a:t>
            </a:r>
          </a:p>
          <a:p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Беллер Николай </a:t>
            </a:r>
          </a:p>
          <a:p>
            <a:r>
              <a:rPr lang="ru-RU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Горшенков</a:t>
            </a:r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Артем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BC559-AFD9-5598-3E29-A3626ECF1417}"/>
              </a:ext>
            </a:extLst>
          </p:cNvPr>
          <p:cNvSpPr txBox="1"/>
          <p:nvPr/>
        </p:nvSpPr>
        <p:spPr>
          <a:xfrm>
            <a:off x="8069345" y="5049864"/>
            <a:ext cx="2950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Смольянинова Милана</a:t>
            </a:r>
          </a:p>
          <a:p>
            <a:pPr algn="r"/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Злобина Анастасия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16608E-6DBD-3B80-BABA-89122490B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830" y="1059806"/>
            <a:ext cx="4020906" cy="5061594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9" y="1310325"/>
            <a:ext cx="6367545" cy="1772239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r>
              <a:rPr lang="ru-RU" dirty="0"/>
              <a:t>Единая Ветеринарная Информационно-Аналитическая Система(ЕВИАС)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2916772"/>
            <a:ext cx="6622819" cy="28526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Это централизованная цифровая платформа, созданная для комплексного решения задач в сфере ветеринарии и заботы о здоровье животных.</a:t>
            </a:r>
          </a:p>
        </p:txBody>
      </p:sp>
      <p:pic>
        <p:nvPicPr>
          <p:cNvPr id="1030" name="Picture 6" descr="Вертикальный портрет в полный рост улыбающегося ветеринара-мужчины,  осматривающего белую собаку лабрадора в ветеринарной клинике | Премиум фото">
            <a:extLst>
              <a:ext uri="{FF2B5EF4-FFF2-40B4-BE49-F238E27FC236}">
                <a16:creationId xmlns:a16="http://schemas.microsoft.com/office/drawing/2014/main" id="{7829C01E-7748-7431-7799-058DBED1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859" y="639709"/>
            <a:ext cx="3716084" cy="557858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D51253-3A5F-8204-9E6F-77A60B574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0448" y="6121400"/>
            <a:ext cx="4020906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831" y="1168924"/>
            <a:ext cx="5120640" cy="1159497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rtl="0"/>
            <a:r>
              <a:rPr lang="ru-RU" sz="2400" dirty="0"/>
              <a:t>Почему ЕВИАС является неотъемлемой частью в жизни владельцев питомцев?</a:t>
            </a: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4612" y="2360071"/>
            <a:ext cx="5648257" cy="3682510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Единая точка доступа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Быстрый поиск специалистов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Рекомендация только проверенных клиник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Специальные предложения и акции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Возможность персонализации профиля каждого животного и отслеживание записей</a:t>
            </a:r>
            <a:r>
              <a:rPr lang="en-US" dirty="0"/>
              <a:t>/</a:t>
            </a:r>
            <a:r>
              <a:rPr lang="ru-RU" dirty="0"/>
              <a:t>болезней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Календарь с уведомлениями о предстоящий записи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5" name="Рисунок 4" descr="Люди в центре круглого помещения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8" r="7618"/>
          <a:stretch/>
        </p:blipFill>
        <p:spPr>
          <a:xfrm>
            <a:off x="0" y="1095509"/>
            <a:ext cx="6385557" cy="5016892"/>
          </a:xfr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923" y="113121"/>
            <a:ext cx="2777492" cy="53229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Цель ЕВИАС</a:t>
            </a:r>
          </a:p>
        </p:txBody>
      </p:sp>
      <p:pic>
        <p:nvPicPr>
          <p:cNvPr id="9" name="Объект 8" descr="Один человек в офисе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37337" y="1348172"/>
            <a:ext cx="6408665" cy="416165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Создать единое цифровое пространство для владельцев животных, врачей и государства.</a:t>
            </a:r>
          </a:p>
          <a:p>
            <a:r>
              <a:rPr lang="ru-RU" dirty="0"/>
              <a:t>Обеспечить пожизненную цифровую историю каждого животного.</a:t>
            </a:r>
          </a:p>
          <a:p>
            <a:r>
              <a:rPr lang="ru-RU" dirty="0"/>
              <a:t>Упростить взаимодействие между всеми участниками рынка.</a:t>
            </a:r>
          </a:p>
          <a:p>
            <a:r>
              <a:rPr lang="ru-RU" dirty="0"/>
              <a:t>Снизить административную нагрузку на ветклиники на 40%.</a:t>
            </a:r>
          </a:p>
          <a:p>
            <a:r>
              <a:rPr lang="ru-RU" dirty="0"/>
              <a:t>Исключить фальсификацию ветеринарных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440" y="825687"/>
            <a:ext cx="6522720" cy="3741551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dirty="0"/>
              <a:t>Интерфейс ЕВИАС </a:t>
            </a:r>
          </a:p>
        </p:txBody>
      </p:sp>
      <p:pic>
        <p:nvPicPr>
          <p:cNvPr id="41" name="Рисунок 40" descr="Большая комната со стеклянными стенами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>
          <a:xfrm>
            <a:off x="7710836" y="-2"/>
            <a:ext cx="4481164" cy="6858002"/>
          </a:xfrm>
        </p:spPr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5" y="0"/>
            <a:ext cx="10900146" cy="741680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Главная страница сайта</a:t>
            </a:r>
          </a:p>
        </p:txBody>
      </p:sp>
      <p:pic>
        <p:nvPicPr>
          <p:cNvPr id="5" name="Рисунок 4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875882-FA9A-283A-D5E2-A10F846B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0630"/>
            <a:ext cx="12192000" cy="857370"/>
          </a:xfrm>
          <a:prstGeom prst="rect">
            <a:avLst/>
          </a:prstGeom>
        </p:spPr>
      </p:pic>
      <p:pic>
        <p:nvPicPr>
          <p:cNvPr id="8" name="Рисунок 7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F00725-4678-EA67-C0C3-7D29BF63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481"/>
            <a:ext cx="12192000" cy="74168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94B69F6-8E03-0BAB-C021-A00BE3FD3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45" y="938561"/>
            <a:ext cx="11509509" cy="52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FDD4-36C3-5565-4DAA-DC4EB8DD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FBB95-7BB6-A379-F7A1-D42C82C8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5" y="0"/>
            <a:ext cx="10900146" cy="741680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Главная страница сайта</a:t>
            </a:r>
          </a:p>
        </p:txBody>
      </p:sp>
      <p:pic>
        <p:nvPicPr>
          <p:cNvPr id="5" name="Рисунок 4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3D7904-AB26-0ACD-817B-ACB2A6F4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0630"/>
            <a:ext cx="12192000" cy="857370"/>
          </a:xfrm>
          <a:prstGeom prst="rect">
            <a:avLst/>
          </a:prstGeom>
        </p:spPr>
      </p:pic>
      <p:pic>
        <p:nvPicPr>
          <p:cNvPr id="8" name="Рисунок 7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4F99B2-AA58-99E3-E4C6-D850CED2B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481"/>
            <a:ext cx="12192000" cy="741680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карта, снимок экран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884233-8E1A-7062-8657-876D279B2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" y="1283276"/>
            <a:ext cx="5400504" cy="496824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обака, снимок экран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B52F19-9E73-D383-B5E2-7A5738581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058" y="1283276"/>
            <a:ext cx="6082612" cy="49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3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DB8B-0CD5-D856-AE0D-4A4C3C61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BFE3A-E4CA-6296-18A8-AAE46A3FC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5" y="0"/>
            <a:ext cx="10900146" cy="741680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Профили пользователя и питомца</a:t>
            </a:r>
          </a:p>
        </p:txBody>
      </p:sp>
      <p:pic>
        <p:nvPicPr>
          <p:cNvPr id="5" name="Рисунок 4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AF8116-ECC1-04B7-F562-D999F501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0630"/>
            <a:ext cx="12192000" cy="857370"/>
          </a:xfrm>
          <a:prstGeom prst="rect">
            <a:avLst/>
          </a:prstGeom>
        </p:spPr>
      </p:pic>
      <p:pic>
        <p:nvPicPr>
          <p:cNvPr id="8" name="Рисунок 7" descr="Изображение выглядит как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A58D97-BBBE-6999-21CB-4245DCF3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2481"/>
            <a:ext cx="12192000" cy="741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9A7998-0F25-93FC-B088-F26151359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2481"/>
            <a:ext cx="6334022" cy="40801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DC1264-0DDA-B2B9-5BAA-B6D4F982D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508" y="3352801"/>
            <a:ext cx="6322324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18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201D4-59D9-7F16-5FF6-CEFF4308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04F72C-491D-C368-6F66-F676D52CFC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151C42-8718-3E48-9A88-96EA88340A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56" t="380" r="2035" b="-380"/>
          <a:stretch>
            <a:fillRect/>
          </a:stretch>
        </p:blipFill>
        <p:spPr>
          <a:xfrm>
            <a:off x="76200" y="1278975"/>
            <a:ext cx="6305501" cy="46063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2B111-6683-CAC8-AEF8-739BC529011B}"/>
              </a:ext>
            </a:extLst>
          </p:cNvPr>
          <p:cNvSpPr txBox="1"/>
          <p:nvPr/>
        </p:nvSpPr>
        <p:spPr>
          <a:xfrm>
            <a:off x="8210549" y="200024"/>
            <a:ext cx="2886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услуг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C6656C-F4FD-B4B4-49D8-2D0AD5B1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56" y="1469871"/>
            <a:ext cx="5688844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1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21361-C66A-7A29-E702-E7121504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8E603-F3D5-2974-20C4-0D56447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488" y="1423942"/>
            <a:ext cx="5120640" cy="3392424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1AF66B-0FB2-896A-FF38-C0B56587B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A3738-0B88-C682-AC25-4508B1AC999F}"/>
              </a:ext>
            </a:extLst>
          </p:cNvPr>
          <p:cNvSpPr txBox="1"/>
          <p:nvPr/>
        </p:nvSpPr>
        <p:spPr>
          <a:xfrm>
            <a:off x="7275903" y="151299"/>
            <a:ext cx="459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Клиники и их страницы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B8F4CA-15B9-8BE4-205B-51D700FF4B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0" r="48"/>
          <a:stretch>
            <a:fillRect/>
          </a:stretch>
        </p:blipFill>
        <p:spPr>
          <a:xfrm>
            <a:off x="6456680" y="1423942"/>
            <a:ext cx="5737110" cy="4303671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016B01E-A929-899A-CC25-C7F7EFF53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7887"/>
            <a:ext cx="6368997" cy="455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9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DC0AF9-E62A-E5EE-5530-23D6290DB5C0}"/>
              </a:ext>
            </a:extLst>
          </p:cNvPr>
          <p:cNvSpPr txBox="1"/>
          <p:nvPr/>
        </p:nvSpPr>
        <p:spPr>
          <a:xfrm>
            <a:off x="257174" y="200024"/>
            <a:ext cx="4171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Календарь приёмов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E648EE-9B89-6D62-D3AE-E88A25D6B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4" y="1091095"/>
            <a:ext cx="7267576" cy="50021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1CA268-E66D-ABEF-E80A-B380EBCC1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18" t="15845" r="30952" b="18863"/>
          <a:stretch>
            <a:fillRect/>
          </a:stretch>
        </p:blipFill>
        <p:spPr>
          <a:xfrm>
            <a:off x="0" y="1091094"/>
            <a:ext cx="4004579" cy="50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4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C7922-EC57-AE7C-C10A-C4066661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Футер и форма регистрации 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3D8297-FFD5-8022-AE5B-7E9D53D9B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3884"/>
            <a:ext cx="7869813" cy="44390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686C59-4F31-B571-F58C-FC71585A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613" y="55626"/>
            <a:ext cx="317470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641E5-DE13-F4B7-6A96-7A29836AA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Востребованность в цифрах</a:t>
            </a:r>
          </a:p>
        </p:txBody>
      </p:sp>
    </p:spTree>
    <p:extLst>
      <p:ext uri="{BB962C8B-B14F-4D97-AF65-F5344CB8AC3E}">
        <p14:creationId xmlns:p14="http://schemas.microsoft.com/office/powerpoint/2010/main" val="415825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8B88E-E9F4-5F57-1D9A-6E6DE605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Востребованность в цифрах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9B92A6-E5AD-6975-5F71-DF5E5D1AE14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98161" y="1522277"/>
            <a:ext cx="11646189" cy="4160520"/>
          </a:xfrm>
        </p:spPr>
        <p:txBody>
          <a:bodyPr/>
          <a:lstStyle/>
          <a:p>
            <a:r>
              <a:rPr lang="ru-RU" dirty="0"/>
              <a:t>За последние 5 лет количество домашних животных в России выросло более чем на 13%.</a:t>
            </a:r>
          </a:p>
          <a:p>
            <a:r>
              <a:rPr lang="ru-RU" dirty="0"/>
              <a:t>В России 56% семей имеют питомцев, из них 50% посещают клиники 1-2 раза в год.</a:t>
            </a:r>
          </a:p>
          <a:p>
            <a:r>
              <a:rPr lang="ru-RU" dirty="0"/>
              <a:t>В Москве в ветеринарные клиники ежегодно обращаются более 330 000 раз.</a:t>
            </a:r>
          </a:p>
          <a:p>
            <a:r>
              <a:rPr lang="ru-RU" dirty="0"/>
              <a:t>Рынок ветеринарных услуг достиг 49,6 млрд руб. в 2024.</a:t>
            </a:r>
          </a:p>
          <a:p>
            <a:r>
              <a:rPr lang="ru-RU" dirty="0"/>
              <a:t>Тысячи экстренных ситуаций в день происходит у домашних животных в крупных городах.</a:t>
            </a:r>
          </a:p>
        </p:txBody>
      </p:sp>
    </p:spTree>
    <p:extLst>
      <p:ext uri="{BB962C8B-B14F-4D97-AF65-F5344CB8AC3E}">
        <p14:creationId xmlns:p14="http://schemas.microsoft.com/office/powerpoint/2010/main" val="1938305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35AC2-C26C-3896-7291-47393EA6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59E6D5-F535-26E1-86A6-3CD4137492C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335112" cy="3718557"/>
          </a:xfrm>
        </p:spPr>
        <p:txBody>
          <a:bodyPr>
            <a:normAutofit/>
          </a:bodyPr>
          <a:lstStyle/>
          <a:p>
            <a:r>
              <a:rPr lang="ru-RU" dirty="0"/>
              <a:t>Благодаря ЕВИАС решаются фундаментальные проблемы отрасли.</a:t>
            </a:r>
          </a:p>
          <a:p>
            <a:r>
              <a:rPr lang="ru-RU" dirty="0"/>
              <a:t>Мы создаем единое цифровое пространство, в котором собираем всё, что нужно для комфортной жизни с вашими питомцами.</a:t>
            </a:r>
          </a:p>
          <a:p>
            <a:r>
              <a:rPr lang="ru-RU" dirty="0"/>
              <a:t>Повышаем доходность клиник.</a:t>
            </a:r>
          </a:p>
          <a:p>
            <a:r>
              <a:rPr lang="ru-RU" dirty="0"/>
              <a:t>Создаем доступность огромного спектра качественных услуг для владельцев домашних животных.</a:t>
            </a:r>
          </a:p>
        </p:txBody>
      </p:sp>
    </p:spTree>
    <p:extLst>
      <p:ext uri="{BB962C8B-B14F-4D97-AF65-F5344CB8AC3E}">
        <p14:creationId xmlns:p14="http://schemas.microsoft.com/office/powerpoint/2010/main" val="191298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848455"/>
            <a:ext cx="5166203" cy="26019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5787" y="3852142"/>
            <a:ext cx="4738563" cy="22850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z="4000" b="1" dirty="0">
                <a:solidFill>
                  <a:srgbClr val="FF0000"/>
                </a:solidFill>
              </a:rPr>
              <a:t> БЕРЕГИТЕ СВОИХ ПИТОМЦЕВ!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Calibri"/>
      </a:majorFont>
      <a:minorFont>
        <a:latin typeface="Meiryo"/>
        <a:ea typeface=""/>
        <a:cs typeface="Calibri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929_TF56000440_Win32" id="{78E14D31-FBE8-411B-B695-13DDDCA0525D}" vid="{7FCB05A6-5D4B-49FE-83DB-D5817DA6427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Дизайн Седзи</Template>
  <TotalTime>297</TotalTime>
  <Words>284</Words>
  <Application>Microsoft Office PowerPoint</Application>
  <PresentationFormat>Широкоэкранный</PresentationFormat>
  <Paragraphs>56</Paragraphs>
  <Slides>16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Wingdings</vt:lpstr>
      <vt:lpstr>Пользовательская</vt:lpstr>
      <vt:lpstr>ЕВИАС</vt:lpstr>
      <vt:lpstr>Единая Ветеринарная Информационно-Аналитическая Система(ЕВИАС) </vt:lpstr>
      <vt:lpstr>Почему ЕВИАС является неотъемлемой частью в жизни владельцев питомцев?</vt:lpstr>
      <vt:lpstr>Цель ЕВИАС</vt:lpstr>
      <vt:lpstr>Интерфейс ЕВИАС </vt:lpstr>
      <vt:lpstr>Главная страница сайта</vt:lpstr>
      <vt:lpstr>Главная страница сайта</vt:lpstr>
      <vt:lpstr>Профили пользователя и питомца</vt:lpstr>
      <vt:lpstr> </vt:lpstr>
      <vt:lpstr> </vt:lpstr>
      <vt:lpstr>Презентация PowerPoint</vt:lpstr>
      <vt:lpstr>Футер и форма регистрации  </vt:lpstr>
      <vt:lpstr>Востребованность в цифрах</vt:lpstr>
      <vt:lpstr>Востребованность в цифрах</vt:lpstr>
      <vt:lpstr>Итог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Беллер Николай</dc:creator>
  <cp:lastModifiedBy>Беллер Николай</cp:lastModifiedBy>
  <cp:revision>8</cp:revision>
  <dcterms:created xsi:type="dcterms:W3CDTF">2025-12-15T18:16:52Z</dcterms:created>
  <dcterms:modified xsi:type="dcterms:W3CDTF">2025-12-15T23:21:30Z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